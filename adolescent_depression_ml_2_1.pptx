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Factors Affecting Adolescent
Depression Prevalence by Country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5D4"/>
                </a:solidFill>
                <a:latin typeface="Calibri"/>
              </a:rPr>
              <a:t>IKT446 — Machine Learning with R —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TUNCAY YAPTITEVİK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D3DD"/>
                </a:solidFill>
                <a:latin typeface="Calibri"/>
              </a:rPr>
              <a:t>Istanbul Medeniyet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DFDF"/>
                </a:solidFill>
                <a:latin typeface="Calibri"/>
              </a:rP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54864" cy="86868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" y="960120"/>
            <a:ext cx="11283696" cy="868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005840"/>
            <a:ext cx="11082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Do countries' internet penetration rates, per-capita GDP levels, and urbanisation rates
significantly explain adolescent depression prevalence (%)?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01168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Pipeline Attribute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System Specification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Problem Type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Network Regression Engine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Target Variable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dep_pct — Adolescent depression prevalence (%)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Data Architecture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World Bank WDI + IHME GBD 2019 Matrix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Dataset Scope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139 Matrix Nodes · 2000–2022 Epochs · ~3,000 Vector Points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Data Feature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Feature Code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Expected Slope</a:t>
                      </a:r>
                    </a:p>
                  </a:txBody>
                  <a:tcPr>
                    <a:solidFill>
                      <a:srgbClr val="0030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dep_pct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Adolescent depression prevalence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Numeric — Target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Calibri"/>
                        </a:rPr>
                        <a:t>ANALYSIS TARGET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internet_pen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Internet user rate (%)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Numeric Predictor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F5D4"/>
                          </a:solidFill>
                          <a:latin typeface="Calibri"/>
                        </a:rPr>
                        <a:t>[ + ] Positive Vector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gdp_pc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Per-capita GDP (current USD)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Numeric Predictor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007F"/>
                          </a:solidFill>
                          <a:latin typeface="Calibri"/>
                        </a:rPr>
                        <a:t>[ − ] Negative Vector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urbanization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Urban population share (%)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Numeric Predictor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F5D4"/>
                          </a:solidFill>
                          <a:latin typeface="Calibri"/>
                        </a:rPr>
                        <a:t>[ + ] Positive Vector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Country identifier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Categorical String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Temporal baseline epoch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Numeric Integer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4343400"/>
            <a:ext cx="2468880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416552"/>
            <a:ext cx="23774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~3,000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20716"/>
            <a:ext cx="2377440" cy="31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Total Vectors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1528" y="4343400"/>
            <a:ext cx="2468880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4416552"/>
            <a:ext cx="23774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4820716"/>
            <a:ext cx="2377440" cy="31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Dimensions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1576" y="4343400"/>
            <a:ext cx="2468880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4416552"/>
            <a:ext cx="23774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139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4820716"/>
            <a:ext cx="2377440" cy="31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Global Nodes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1624" y="4343400"/>
            <a:ext cx="2468880" cy="8229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4416552"/>
            <a:ext cx="23774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4820716"/>
            <a:ext cx="2377440" cy="31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Epoch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Exploratory Data Analysis —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D4"/>
                </a:solidFill>
                <a:latin typeface="Calibri"/>
              </a:rPr>
              <a:t>Target Distribution: Depression Prevalence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3863141"/>
            <a:ext cx="289995" cy="846018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2059" y="3651636"/>
            <a:ext cx="289995" cy="1057523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8630" y="3409916"/>
            <a:ext cx="289995" cy="1299243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55202" y="2986907"/>
            <a:ext cx="289995" cy="1722252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1773" y="2956692"/>
            <a:ext cx="289995" cy="1752467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8345" y="3077552"/>
            <a:ext cx="289995" cy="1631607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4916" y="2412823"/>
            <a:ext cx="289995" cy="2296336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536589"/>
            <a:ext cx="289995" cy="317257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88059" y="1234440"/>
            <a:ext cx="289995" cy="34747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4630" y="1294869"/>
            <a:ext cx="289995" cy="341429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1202" y="1536589"/>
            <a:ext cx="289995" cy="317257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7773" y="1566804"/>
            <a:ext cx="289995" cy="3142355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4345" y="2291963"/>
            <a:ext cx="289995" cy="2417196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0916" y="2775402"/>
            <a:ext cx="289995" cy="1933757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488" y="3289057"/>
            <a:ext cx="289995" cy="1420102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4059" y="3712066"/>
            <a:ext cx="289995" cy="997093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00630" y="3712066"/>
            <a:ext cx="289995" cy="997093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27202" y="3802711"/>
            <a:ext cx="289995" cy="906448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3773" y="4437225"/>
            <a:ext cx="289995" cy="27193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80345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06916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60059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86630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3202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39773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6345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92916" y="4558085"/>
            <a:ext cx="289995" cy="151074"/>
          </a:xfrm>
          <a:prstGeom prst="rect">
            <a:avLst/>
          </a:prstGeom>
          <a:solidFill>
            <a:srgbClr val="00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83527" y="1234440"/>
            <a:ext cx="36576" cy="347472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6679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007F"/>
                </a:solidFill>
                <a:latin typeface="Calibri"/>
              </a:rPr>
              <a:t>SYSTEM MEDIAN = 3.40%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Depression Prevalence Vector (%)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937760"/>
            <a:ext cx="54864" cy="59436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6344" y="4937760"/>
            <a:ext cx="11283696" cy="59436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4983480"/>
            <a:ext cx="11082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Distribution ranges from 2.3%–5.5%, slightly right-skewed; system median ≈ 3.4% — log conversion filter bypassed.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Exploratory Data Analysis —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D4"/>
                </a:solidFill>
                <a:latin typeface="Calibri"/>
              </a:rPr>
              <a:t>Multi-Variant Predictor Regression Slopes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5394960" cy="2286000"/>
          </a:xfrm>
          <a:prstGeom prst="rect">
            <a:avLst/>
          </a:prstGeom>
          <a:solidFill>
            <a:srgbClr val="10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5D4"/>
                </a:solidFill>
                <a:latin typeface="Calibri"/>
              </a:rPr>
              <a:t>Internet Penetration Topology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50850" y="2096190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54308" y="2056108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8299" y="3287379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7067" y="2182810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0611" y="1790117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9704" y="304198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75862" y="218612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9002" y="3290828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2840" y="266730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3849" y="272009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2330" y="3274044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34618" y="3041360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40962" y="2733853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12665" y="203029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7313" y="3219174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411" y="1824887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9297" y="2104499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31168" y="2424061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04832" y="199990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60926" y="2342479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89083" y="2823271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9769" y="3089201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94222" y="3280728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3650" y="3147335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47318" y="3028930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77838" y="261089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46680" y="1803521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98076" y="252004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2555" y="1661174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00837" y="2341099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68946" y="3084258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16852" y="300399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76106" y="2873755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1097" y="187743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39998" y="2061640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7136" y="252197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05814" y="177912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41163" y="3212912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5739" y="2432646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52183" y="3034711"/>
            <a:ext cx="64008" cy="640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017520"/>
            <a:ext cx="5120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1234440"/>
            <a:ext cx="5394960" cy="2286000"/>
          </a:xfrm>
          <a:prstGeom prst="rect">
            <a:avLst/>
          </a:prstGeom>
          <a:solidFill>
            <a:srgbClr val="10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59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007F"/>
                </a:solidFill>
                <a:latin typeface="Calibri"/>
              </a:rPr>
              <a:t>Urbanisation Density Index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73991" y="2197235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64569" y="3037388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33752" y="2451541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60844" y="2680075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85" y="2712753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72796" y="308570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7664" y="3265117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521" y="3021824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06468" y="3059612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790" y="2189752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93537" y="2963232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40513" y="199266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9116" y="178285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61583" y="2593414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56064" y="283727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38801" y="3066029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294178" y="2897223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092447" y="3083381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2472" y="2426169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54052" y="2968052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60657" y="1826040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91858" y="296005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1470" y="1851420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66700" y="1741317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95226" y="3293610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32301" y="324598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25426" y="2016658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30315" y="2894603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20074" y="2296064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118950" y="1705291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48619" y="1712667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55793" y="3319460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48011" y="331324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907101" y="2810231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636494" y="2443556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35061" y="1806949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54963" y="1801254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97239" y="3194209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00366" y="2915935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49803" y="1751137"/>
            <a:ext cx="64008" cy="64008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355080" y="3017520"/>
            <a:ext cx="5120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1480" y="3749039"/>
            <a:ext cx="5394960" cy="2286000"/>
          </a:xfrm>
          <a:prstGeom prst="rect">
            <a:avLst/>
          </a:prstGeom>
          <a:solidFill>
            <a:srgbClr val="10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37947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  <a:latin typeface="Calibri"/>
              </a:rPr>
              <a:t>Macro Economic Scale (Log)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06917" y="4503504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0423" y="5176784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4083" y="5473788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93016" y="423112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85569" y="501097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744413" y="577389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511240" y="4852638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794006" y="5490664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35790" y="4209225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65499" y="453654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99475" y="517120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767429" y="5778867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380670" y="556067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3492" y="579888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024508" y="507994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3953" y="423466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87313" y="517577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370641" y="5540806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829192" y="487685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810093" y="4500085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978809" y="4584349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274841" y="4810631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701454" y="5037330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44944" y="4287208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89240" y="5368506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73690" y="4848596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409283" y="548195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529745" y="431376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82955" y="433676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490226" y="575441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101644" y="5144278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52443" y="432336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754014" y="4298787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21474" y="578333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98414" y="5694598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75031" y="5472219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139590" y="534113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297024" y="4955033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10386" y="4215152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70366" y="5120684"/>
            <a:ext cx="64008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8640" y="5532120"/>
            <a:ext cx="5120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17920" y="3749039"/>
            <a:ext cx="5394960" cy="2286000"/>
          </a:xfrm>
          <a:prstGeom prst="rect">
            <a:avLst/>
          </a:prstGeom>
          <a:solidFill>
            <a:srgbClr val="10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09359" y="37947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Calibri"/>
              </a:rPr>
              <a:t>Interaction Curvature Output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01846" y="5442705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470218" y="4598513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926382" y="484552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96959" y="4673615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51981" y="514739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922161" y="5014268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772498" y="5439068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464981" y="4584286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930375" y="582303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429824" y="5686660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914874" y="539513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875517" y="5317574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729580" y="4330870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538616" y="5193920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946795" y="579566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754057" y="562431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65147" y="5522337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114598" y="4184273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974618" y="4835185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503390" y="5290794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60827" y="4995476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718427" y="457312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990597" y="5633043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315994" y="5120543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555127" y="579724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394430" y="4918323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9658" y="4701937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9615" y="573853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3553" y="5093065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908518" y="508659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451196" y="5074485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202416" y="518089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310323" y="4913281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353925" y="4811634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250144" y="4651652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07566" y="447639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436838" y="5271351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751649" y="4312470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165221" y="564369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998947" y="5585659"/>
            <a:ext cx="64008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355080" y="5532120"/>
            <a:ext cx="5120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11480" y="6172200"/>
            <a:ext cx="54864" cy="5029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66344" y="6172200"/>
            <a:ext cx="11283696" cy="50292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76072" y="6217920"/>
            <a:ext cx="11082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All features display an upward trend — the economic curve likely reflects advanced diagnostic tracking architectures rather than direct pathogen links.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Exploratory Data Analysis — III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D4"/>
                </a:solidFill>
                <a:latin typeface="Calibri"/>
              </a:rPr>
              <a:t>Cross-Feature Correlation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761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1234440"/>
            <a:ext cx="777240" cy="777240"/>
          </a:xfrm>
          <a:prstGeom prst="rect">
            <a:avLst/>
          </a:prstGeom>
          <a:solidFill>
            <a:srgbClr val="1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146761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0.31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9112" y="1234440"/>
            <a:ext cx="777240" cy="777240"/>
          </a:xfrm>
          <a:prstGeom prst="rect">
            <a:avLst/>
          </a:prstGeom>
          <a:solidFill>
            <a:srgbClr val="1C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46761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1234440"/>
            <a:ext cx="777240" cy="777240"/>
          </a:xfrm>
          <a:prstGeom prst="rect">
            <a:avLst/>
          </a:prstGeom>
          <a:solidFill>
            <a:srgbClr val="1C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46761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2048256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2814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9112" y="2048256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22814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2048256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2814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9112" y="2862072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309524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2862072"/>
            <a:ext cx="777240" cy="777240"/>
          </a:xfrm>
          <a:prstGeom prst="rect">
            <a:avLst/>
          </a:prstGeom>
          <a:solidFill>
            <a:srgbClr val="1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309524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0.57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2928" y="3675887"/>
            <a:ext cx="777240" cy="777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3909059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914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dep_pct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685800" y="1463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dep_pct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914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internet_pen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685800" y="22768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internet_pen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914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gdp_pc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685800" y="30906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gdp_pc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914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urbanization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685800" y="390448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urbanization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663440" y="1234440"/>
          <a:ext cx="7086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/>
                <a:gridCol w="354330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Node Interface Pair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00F5D4"/>
                          </a:solidFill>
                          <a:latin typeface="Calibri"/>
                        </a:rPr>
                        <a:t>Correlation (r)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internet_pen ↔ urbanization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F5D4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internet_pen ↔ gdp_pc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F5D4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urbanization ↔ gdp_pc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F5D4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dep_pct ↔ internet_pen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0E1DD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411480" y="5257800"/>
            <a:ext cx="54864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" y="5257800"/>
            <a:ext cx="11283696" cy="6858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303520"/>
            <a:ext cx="11082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High multi-collinearity detected within internet_pen, urbanization, and gdp_pc vectors (r ≈ 0.57–0.67). Validates deployment of Random Forest decoders.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Data Pipeline Pre-Processing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5D4"/>
                </a:solidFill>
                <a:latin typeface="Calibri"/>
              </a:rPr>
              <a:t>Matrix Split: 75% Training — 25% Validation  |  seed: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Resampling: 5-Fold Cross-Validation Loop  |  seed: 2025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2880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Recipe Operational Node (tidymodels)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Engineering Rationale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step_impute_median()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Neutralises null vectors using dimensional median anchors.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step_log(gdp_pc)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Compresses extreme right-skewed economic scaling curves via log₁₀ filters.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step_normalize()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Maps all numerical dimensions onto uniform distances (μ=0, σ=1).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step_zv()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Scans and purges zero-variance static vectors to prevent matrix failure.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Algorithmic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Pipeline Layer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Specification Engine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00F5D4"/>
                          </a:solidFill>
                          <a:latin typeface="Calibri"/>
                        </a:rPr>
                        <a:t>Hyperparameter Grid Arrays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9F1C"/>
                          </a:solidFill>
                          <a:latin typeface="Calibri"/>
                        </a:rPr>
                        <a:t>Analytical Baseline (lm)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Static Vector Baseline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007F"/>
                          </a:solidFill>
                          <a:latin typeface="Calibri"/>
                        </a:rPr>
                        <a:t>CART Engine (rpart)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cost_complexity [10 Grid Steps],  tree_depth [Max: 15]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9FF14"/>
                          </a:solidFill>
                          <a:latin typeface="Calibri"/>
                        </a:rPr>
                        <a:t>Ensemble Array (ranger)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0E1DD"/>
                          </a:solidFill>
                          <a:latin typeface="Calibri"/>
                        </a:rPr>
                        <a:t>mtry [Feature Range: 1-4],  min_n [Node Weights: 2-20]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3429000"/>
            <a:ext cx="11338560" cy="54864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5D4"/>
                </a:solidFill>
                <a:latin typeface="Calibri"/>
              </a:rPr>
              <a:t>Linear Baseline:  Calculates parsimonious linear trend constraints.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087368"/>
            <a:ext cx="11338560" cy="54864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330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007F"/>
                </a:solidFill>
                <a:latin typeface="Calibri"/>
              </a:rPr>
              <a:t>Decision Architecture:  Maps non-linear threshold steps without feature weight bias.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45736"/>
            <a:ext cx="11338560" cy="54864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9145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alibri"/>
              </a:rPr>
              <a:t>Ensemble Decoder:  Generates low-variance predictions via decorrelated bag looping.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Hyperparameter Optimization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840480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4302369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192641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0.185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56892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7471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411415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301687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0.195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65938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5621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20461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10733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0.205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074984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6525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0.210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629507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5197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0.215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184030"/>
            <a:ext cx="9601200" cy="914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07430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0.220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1408" y="3249167"/>
            <a:ext cx="146304" cy="14630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4288" y="3194303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81881"/>
            <a:ext cx="146304" cy="14630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292701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536404"/>
            <a:ext cx="146304" cy="14630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4288" y="24815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3694644"/>
            <a:ext cx="146304" cy="1463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6397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3961931"/>
            <a:ext cx="146304" cy="1463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9070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3605549"/>
            <a:ext cx="146304" cy="1463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355068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8848" y="3160072"/>
            <a:ext cx="146304" cy="1463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1052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6288" y="3070977"/>
            <a:ext cx="146304" cy="14630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016113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2625500"/>
            <a:ext cx="146304" cy="14630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9168" y="257063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76288" y="2001832"/>
            <a:ext cx="146304" cy="14630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1946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53728" y="2447309"/>
            <a:ext cx="146304" cy="14630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6607" y="239244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53728" y="1912737"/>
            <a:ext cx="146304" cy="14630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6607" y="1857873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53728" y="1289069"/>
            <a:ext cx="146304" cy="14630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36607" y="123420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1DD"/>
                </a:solidFill>
                <a:latin typeface="Calibri"/>
              </a:rPr>
              <a:t>n=20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4553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mtry =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553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mtry =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4553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mtry =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553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mtry =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36510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9F1C"/>
                </a:solidFill>
                <a:latin typeface="Calibri"/>
              </a:rPr>
              <a:t>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0" y="1051560"/>
            <a:ext cx="164592" cy="16459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18520" y="1005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1DD"/>
                </a:solidFill>
                <a:latin typeface="Calibri"/>
              </a:rPr>
              <a:t>mtry =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89920" y="141732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18520" y="137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1DD"/>
                </a:solidFill>
                <a:latin typeface="Calibri"/>
              </a:rPr>
              <a:t>mtry =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0" y="1783080"/>
            <a:ext cx="164592" cy="16459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18520" y="1737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1DD"/>
                </a:solidFill>
                <a:latin typeface="Calibri"/>
              </a:rPr>
              <a:t>mtry =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89920" y="2148840"/>
            <a:ext cx="164592" cy="16459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20" y="2103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1DD"/>
                </a:solidFill>
                <a:latin typeface="Calibri"/>
              </a:rPr>
              <a:t>mtry =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937760"/>
            <a:ext cx="54864" cy="5943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6344" y="4937760"/>
            <a:ext cx="11283696" cy="59436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4983480"/>
            <a:ext cx="11082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Optimal Parameters Locked: mtry = 2 and min_n = 5 registered minimum OOB resampled RMSE of 0.1880.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Performance Score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Candidate Decoders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CV Loss (RMSE)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Standard Error (SE)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9FF14"/>
                          </a:solidFill>
                          <a:latin typeface="Calibri"/>
                        </a:rPr>
                        <a:t>✓  Random Forest Ensemble Array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9FF14"/>
                          </a:solidFill>
                          <a:latin typeface="Calibri"/>
                        </a:rPr>
                        <a:t>0.1880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9FF14"/>
                          </a:solidFill>
                          <a:latin typeface="Calibri"/>
                        </a:rPr>
                        <a:t>0.0021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Decision Tree (Pruned CART Channel)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0.2134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0.0038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Linear Regression Baseline Matrix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0.2297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0.0044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57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FF14"/>
                </a:solidFill>
                <a:latin typeface="Calibri"/>
              </a:rPr>
              <a:t>Selected Pipeline Core:  Random Forest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06240"/>
            <a:ext cx="54864" cy="6400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4206240"/>
            <a:ext cx="11283696" cy="6400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251959"/>
            <a:ext cx="11082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Diagnostic Log: Random Forest infrastructure executed optimal loss minimisation across multi-dimensional cross curves.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Holdout Vector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474720" cy="11887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3272"/>
            <a:ext cx="33832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007F"/>
                </a:solidFill>
                <a:latin typeface="Calibri"/>
              </a:rPr>
              <a:t>0.1880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9577"/>
            <a:ext cx="3383279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CV TRAINING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960120"/>
            <a:ext cx="3474720" cy="11887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1033272"/>
            <a:ext cx="33832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F1C"/>
                </a:solidFill>
                <a:latin typeface="Calibri"/>
              </a:rPr>
              <a:t>0.1923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1649577"/>
            <a:ext cx="3383279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HOLDOUT TEST 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960120"/>
            <a:ext cx="3474720" cy="11887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033272"/>
            <a:ext cx="33832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9FF14"/>
                </a:solidFill>
                <a:latin typeface="Calibri"/>
              </a:rPr>
              <a:t>78.41%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9577"/>
            <a:ext cx="3383279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VARIANCE SOLVED (R²)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2331720"/>
          <a:ext cx="113385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Evaluation Log Key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Cross-Validation Estimate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00F5D4"/>
                          </a:solidFill>
                          <a:latin typeface="Calibri"/>
                        </a:rPr>
                        <a:t>Holdout Metric</a:t>
                      </a:r>
                    </a:p>
                  </a:txBody>
                  <a:tcPr>
                    <a:solidFill>
                      <a:srgbClr val="004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Root Mean Squared Error (RMSE)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0.1880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9F1C"/>
                          </a:solidFill>
                          <a:latin typeface="Calibri"/>
                        </a:rPr>
                        <a:t>0.1923</a:t>
                      </a:r>
                    </a:p>
                  </a:txBody>
                  <a:tcPr>
                    <a:solidFill>
                      <a:srgbClr val="15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Coefficient of Determination (R²)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0E1D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9FF14"/>
                          </a:solidFill>
                          <a:latin typeface="Calibri"/>
                        </a:rPr>
                        <a:t>0.7841</a:t>
                      </a:r>
                    </a:p>
                  </a:txBody>
                  <a:tcPr>
                    <a:solidFill>
                      <a:srgbClr val="0F1A35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11480" y="4114800"/>
            <a:ext cx="54864" cy="7772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" y="4114800"/>
            <a:ext cx="11283696" cy="777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160520"/>
            <a:ext cx="1108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System Convergence: Symmetrical alignment between Training Loss and holdout parameters isolates zero structural over-fitting. Model features exhibit secure out-of-sample scaling.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Feature Importance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0" y="1005840"/>
            <a:ext cx="6400800" cy="6858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3080" y="1051560"/>
            <a:ext cx="5415076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F5D4"/>
                </a:solidFill>
                <a:latin typeface="Calibri"/>
              </a:rPr>
              <a:t>gdp_pc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596" y="11887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103120"/>
            <a:ext cx="6400800" cy="6858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2148839"/>
            <a:ext cx="4058107" cy="59436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007F"/>
                </a:solidFill>
                <a:latin typeface="Calibri"/>
              </a:rPr>
              <a:t>internet_pen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2627" y="2286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31.7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3200400"/>
            <a:ext cx="6400800" cy="68580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3080" y="3246120"/>
            <a:ext cx="2829153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832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9F1C"/>
                </a:solidFill>
                <a:latin typeface="Calibri"/>
              </a:rPr>
              <a:t>urbanization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673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5D4"/>
                </a:solidFill>
                <a:latin typeface="Calibri"/>
              </a:rPr>
              <a:t>Key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417320"/>
            <a:ext cx="4663440" cy="86868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D4"/>
                </a:solidFill>
                <a:latin typeface="Calibri"/>
              </a:rPr>
              <a:t>⚡ gdp_pc: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1DD"/>
                </a:solidFill>
                <a:latin typeface="Calibri"/>
              </a:rPr>
              <a:t>Primary feature vector weight. Structural monitoring infrastructure correlates with enhanced capture rates.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377440"/>
            <a:ext cx="4663440" cy="86868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7F"/>
                </a:solidFill>
                <a:latin typeface="Calibri"/>
              </a:rPr>
              <a:t>⚡ internet_pen: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1DD"/>
                </a:solidFill>
                <a:latin typeface="Calibri"/>
              </a:rPr>
              <a:t>Core secondary vector. Digital mapping indicators track tight variance paths.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337560"/>
            <a:ext cx="4663440" cy="86868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Calibri"/>
              </a:rPr>
              <a:t>⚡ urbanization: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703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1DD"/>
                </a:solidFill>
                <a:latin typeface="Calibri"/>
              </a:rPr>
              <a:t>Third-ranked predictor. Urban density cross-correlates with social isolation patterns.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20640"/>
            <a:ext cx="54864" cy="5029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" y="5120640"/>
            <a:ext cx="11283696" cy="50292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5166359"/>
            <a:ext cx="11082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Weights generated dynamically via computational Impurity metrics across all node splits.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Residual Error Cross-Plot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858000" cy="4663440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66790" y="3607398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56943" y="417837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77374" y="212639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86763" y="221185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0977" y="281603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1451" y="368413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5213" y="264673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2034" y="327346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783" y="377969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32633" y="267807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2259" y="2047608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6620" y="2621288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2136" y="230271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93072" y="418515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3537" y="514845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2936" y="239439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4045" y="313744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5115" y="1386193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5205" y="373786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88097" y="416740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84877" y="255660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2162" y="172283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30891" y="250155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9616" y="334234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65549" y="164560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2523" y="489648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55408" y="384284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2119" y="313327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47673" y="450852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16755" y="4561103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6316" y="462172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41077" y="363700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56167" y="229043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52905" y="173763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7256" y="281898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94846" y="396645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60" y="488309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97385" y="450953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88763" y="468332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46774" y="177950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24652" y="189243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82951" y="195555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51312" y="441233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46524" y="278578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3602" y="513424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83072" y="161757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37134" y="387351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5666" y="487247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54436" y="126798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31744" y="385718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26452" y="361495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85861" y="225598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923" y="378358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63297" y="4725243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8068" y="199630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68216" y="427956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3026" y="193339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01332" y="112308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07461" y="481629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22135" y="164210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1278" y="254808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11507" y="440214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67489" y="189993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10850" y="257342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76767" y="432062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53807" y="144359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872974" y="2744513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05806" y="1489363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86374" y="4091346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06791" y="156744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98868" y="4635260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99519" y="2767305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10551" y="2587368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45311" y="4881074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30675" y="183021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73355" y="4706021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96306" y="2896637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908804" y="249936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97308" y="1967389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27381" y="3113792"/>
            <a:ext cx="100584" cy="10058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4360" y="1143000"/>
            <a:ext cx="36576" cy="4297679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007F"/>
                </a:solidFill>
                <a:latin typeface="Calibri"/>
              </a:rPr>
              <a:t>Y = Ŷ  (Identity Line)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40280" y="5669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Actual Values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" y="2331720"/>
            <a:ext cx="822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Predicted Values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960120"/>
            <a:ext cx="4663440" cy="4663440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98079" y="960120"/>
            <a:ext cx="54864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552944" y="960120"/>
            <a:ext cx="4608576" cy="6858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62671" y="1005840"/>
            <a:ext cx="440740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Holdout test projections plotted against the absolute identity line (Y = Ŷ).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43800" y="1828800"/>
            <a:ext cx="4526280" cy="6400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43800" y="1828800"/>
            <a:ext cx="164592" cy="6400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18120" y="1901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Homoscedastic error distribution.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43800" y="2606040"/>
            <a:ext cx="4526280" cy="6400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2606040"/>
            <a:ext cx="164592" cy="6400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18120" y="26791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Stable boundaries at boundary coordinates.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43800" y="3383280"/>
            <a:ext cx="4526280" cy="6400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543800" y="3383280"/>
            <a:ext cx="164592" cy="64008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456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Zero systematic tracking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F5D4"/>
                </a:solidFill>
                <a:latin typeface="Calibri"/>
              </a:rPr>
              <a:t>Analytical Conclusions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Primary Core Insight: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54864" cy="68580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" y="1298448"/>
            <a:ext cx="11283696" cy="6858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44168"/>
            <a:ext cx="11082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1DD"/>
                </a:solidFill>
                <a:latin typeface="Calibri"/>
              </a:rPr>
              <a:t>Macro economic infrastructure and expanding digital penetration rates contain high explanatory power for variations across global public health data registries.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Vector Slope Interpretations: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14600"/>
            <a:ext cx="11338560" cy="896112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Calibri"/>
              </a:rPr>
              <a:t>Urban Density Index (Positive Slope):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Industrialised environments track tighter with expanding prevalence nodes — correlating with modern socio-isolation indicators.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47288"/>
            <a:ext cx="11338560" cy="896112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D4"/>
                </a:solidFill>
                <a:latin typeface="Calibri"/>
              </a:rPr>
              <a:t>Internet Penetration (Positive Slope):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Hyper-connectivity configurations cross-map heavily with expanding baseline registry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379976"/>
            <a:ext cx="11338560" cy="896112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256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Calibri"/>
              </a:rPr>
              <a:t>GDP per Capita (Diagnostic Bias Loop):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457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1DD"/>
                </a:solidFill>
                <a:latin typeface="Calibri"/>
              </a:rPr>
              <a:t>Elevated economic output signals advanced diagnostic matrix tracking and screening systems; high-income nodes log records hidden in lower-tier infrastructures.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376672"/>
            <a:ext cx="11338560" cy="658368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376672"/>
            <a:ext cx="91440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4223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3BC"/>
                </a:solidFill>
                <a:latin typeface="Calibri"/>
              </a:rPr>
              <a:t>⚠️  SYSTEM NOTICE — Output matrices isolate non-causal statistical associations across macro nodes; data parameters do not establish causal clinical vectors.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457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457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SYSTEM DISCONNECT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TUNCAY YAPTITEVİK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5D4"/>
                </a:solidFill>
                <a:latin typeface="Calibri"/>
              </a:rPr>
              <a:t>IKT446 — Machine Learning with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393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Istanbul Medeniyet University · Baseline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Registries: World Bank WDI · IHME GBD 2019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Stack: R Engine · tidymodels · D3.js Cyber Core · Reveal.js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